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e564bcc5d6439a" /><Relationship Type="http://schemas.openxmlformats.org/officeDocument/2006/relationships/extended-properties" Target="/docProps/app.xml" Id="R8e9d74ac24c84551" /><Relationship Type="http://schemas.openxmlformats.org/officeDocument/2006/relationships/officeDocument" Target="/ppt/presentation.xml" Id="R4e8e6dac636940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52975d7f04015"/>
  </p:sldMasterIdLst>
  <p:notesMasterIdLst>
    <p:notesMasterId xmlns:r="http://schemas.openxmlformats.org/officeDocument/2006/relationships" r:id="R55ebac054df8415a"/>
  </p:notesMasterIdLst>
  <p:sldIdLst>
    <p:sldId xmlns:r="http://schemas.openxmlformats.org/officeDocument/2006/relationships" id="256" r:id="R1d1102bf9f344482"/>
    <p:sldId xmlns:r="http://schemas.openxmlformats.org/officeDocument/2006/relationships" id="257" r:id="R6633970ef1f24565"/>
    <p:sldId xmlns:r="http://schemas.openxmlformats.org/officeDocument/2006/relationships" id="258" r:id="R999cbf2d850944b4"/>
    <p:sldId xmlns:r="http://schemas.openxmlformats.org/officeDocument/2006/relationships" id="259" r:id="Rd182d886545e4559"/>
    <p:sldId xmlns:r="http://schemas.openxmlformats.org/officeDocument/2006/relationships" id="260" r:id="R5b0d4a01a7cb4a86"/>
    <p:sldId xmlns:r="http://schemas.openxmlformats.org/officeDocument/2006/relationships" id="261" r:id="R1889e411b78b46f7"/>
    <p:sldId xmlns:r="http://schemas.openxmlformats.org/officeDocument/2006/relationships" id="262" r:id="Rd471280bdbfb4190"/>
    <p:sldId xmlns:r="http://schemas.openxmlformats.org/officeDocument/2006/relationships" id="263" r:id="R4eb659cf39794894"/>
    <p:sldId xmlns:r="http://schemas.openxmlformats.org/officeDocument/2006/relationships" id="264" r:id="Reb55e5a62acf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5c07060dd4a14" /><Relationship Type="http://schemas.openxmlformats.org/officeDocument/2006/relationships/slideMaster" Target="/ppt/slideMasters/slideMaster1.xml" Id="Rcde52975d7f04015" /><Relationship Type="http://schemas.openxmlformats.org/officeDocument/2006/relationships/notesMaster" Target="/ppt/notesMasters/notesMaster1.xml" Id="R55ebac054df8415a" /><Relationship Type="http://schemas.openxmlformats.org/officeDocument/2006/relationships/presProps" Target="/ppt/presProps.xml" Id="R3bc9aa1074d84025" /><Relationship Type="http://schemas.openxmlformats.org/officeDocument/2006/relationships/tableStyles" Target="/ppt/tableStyles.xml" Id="R5bd2a00dff5f43f1" /><Relationship Type="http://schemas.openxmlformats.org/officeDocument/2006/relationships/slide" Target="/ppt/slides/slide1.xml" Id="R1d1102bf9f344482" /><Relationship Type="http://schemas.openxmlformats.org/officeDocument/2006/relationships/slide" Target="/ppt/slides/slide2.xml" Id="R6633970ef1f24565" /><Relationship Type="http://schemas.openxmlformats.org/officeDocument/2006/relationships/slide" Target="/ppt/slides/slide3.xml" Id="R999cbf2d850944b4" /><Relationship Type="http://schemas.openxmlformats.org/officeDocument/2006/relationships/slide" Target="/ppt/slides/slide4.xml" Id="Rd182d886545e4559" /><Relationship Type="http://schemas.openxmlformats.org/officeDocument/2006/relationships/slide" Target="/ppt/slides/slide5.xml" Id="R5b0d4a01a7cb4a86" /><Relationship Type="http://schemas.openxmlformats.org/officeDocument/2006/relationships/slide" Target="/ppt/slides/slide6.xml" Id="R1889e411b78b46f7" /><Relationship Type="http://schemas.openxmlformats.org/officeDocument/2006/relationships/slide" Target="/ppt/slides/slide7.xml" Id="Rd471280bdbfb4190" /><Relationship Type="http://schemas.openxmlformats.org/officeDocument/2006/relationships/slide" Target="/ppt/slides/slide8.xml" Id="R4eb659cf39794894" /><Relationship Type="http://schemas.openxmlformats.org/officeDocument/2006/relationships/slide" Target="/ppt/slides/slide9.xml" Id="Reb55e5a62acf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7d21756df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429f661fc4c74" /><Relationship Type="http://schemas.openxmlformats.org/officeDocument/2006/relationships/notesMaster" Target="/ppt/notesMasters/notesMaster1.xml" Id="R3ec51106a556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fcb6a1dd7d4436" /><Relationship Type="http://schemas.openxmlformats.org/officeDocument/2006/relationships/notesMaster" Target="/ppt/notesMasters/notesMaster1.xml" Id="Raf079bd2596d4c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8d6b2c4e2b4d8d" /><Relationship Type="http://schemas.openxmlformats.org/officeDocument/2006/relationships/notesMaster" Target="/ppt/notesMasters/notesMaster1.xml" Id="Raa30619490c84a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e198c8454946dd" /><Relationship Type="http://schemas.openxmlformats.org/officeDocument/2006/relationships/notesMaster" Target="/ppt/notesMasters/notesMaster1.xml" Id="Rc32909089a5149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c43ed659ab45a0" /><Relationship Type="http://schemas.openxmlformats.org/officeDocument/2006/relationships/notesMaster" Target="/ppt/notesMasters/notesMaster1.xml" Id="R4a8a7d96414e46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3fc3fbdc944a4d" /><Relationship Type="http://schemas.openxmlformats.org/officeDocument/2006/relationships/notesMaster" Target="/ppt/notesMasters/notesMaster1.xml" Id="Rf712b484658c47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a24dbe89524a42" /><Relationship Type="http://schemas.openxmlformats.org/officeDocument/2006/relationships/notesMaster" Target="/ppt/notesMasters/notesMaster1.xml" Id="R712b9892107442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28d5685870460c" /><Relationship Type="http://schemas.openxmlformats.org/officeDocument/2006/relationships/notesMaster" Target="/ppt/notesMasters/notesMaster1.xml" Id="Re20836304bf34a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0dc9c2592043ee" /><Relationship Type="http://schemas.openxmlformats.org/officeDocument/2006/relationships/notesMaster" Target="/ppt/notesMasters/notesMaster1.xml" Id="Rdfd19c5f82ac45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0c8e4466d45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93403960d34c83" /><Relationship Type="http://schemas.openxmlformats.org/officeDocument/2006/relationships/slideLayout" Target="/ppt/slideLayouts/slideLayout1.xml" Id="R74a7b281b1c941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a7b281b1c941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d9997ba8a45e9" /><Relationship Type="http://schemas.openxmlformats.org/officeDocument/2006/relationships/notesSlide" Target="/ppt/notesSlides/notesSlide1.xml" Id="Rccc7a082d73f42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e3657c544747" /><Relationship Type="http://schemas.openxmlformats.org/officeDocument/2006/relationships/notesSlide" Target="/ppt/notesSlides/notesSlide2.xml" Id="R0b80f87d1a5a42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c8a373c2a486a" /><Relationship Type="http://schemas.openxmlformats.org/officeDocument/2006/relationships/notesSlide" Target="/ppt/notesSlides/notesSlide3.xml" Id="R7ac9bfdf442a42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8befcfc194dd5" /><Relationship Type="http://schemas.openxmlformats.org/officeDocument/2006/relationships/notesSlide" Target="/ppt/notesSlides/notesSlide4.xml" Id="R8b4f45336aa743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546fb474e4d26" /><Relationship Type="http://schemas.openxmlformats.org/officeDocument/2006/relationships/notesSlide" Target="/ppt/notesSlides/notesSlide5.xml" Id="R3df627ac9c9347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65997117a4349" /><Relationship Type="http://schemas.openxmlformats.org/officeDocument/2006/relationships/notesSlide" Target="/ppt/notesSlides/notesSlide6.xml" Id="Re8b95d2054244b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90512bf3d48ff" /><Relationship Type="http://schemas.openxmlformats.org/officeDocument/2006/relationships/notesSlide" Target="/ppt/notesSlides/notesSlide7.xml" Id="Reb3632b2108a4a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c83bbd7d041f5" /><Relationship Type="http://schemas.openxmlformats.org/officeDocument/2006/relationships/notesSlide" Target="/ppt/notesSlides/notesSlide8.xml" Id="R005913993e7f4d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45e5cc9294058" /><Relationship Type="http://schemas.openxmlformats.org/officeDocument/2006/relationships/notesSlide" Target="/ppt/notesSlides/notesSlide9.xml" Id="Rb8606473b04541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C63A6-18EB-4A26-8C1A-24316DC3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0FBE8-1E36-4636-B38C-0570A238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연구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9329C-82C5-4C8D-85B4-45D1DB2E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27DC9-0F4C-4988-8074-8B2B19D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2FDD3-3E8F-4618-AA63-8AE5F40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AI 팀을 설계한다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3F94B-F780-4D10-9251-7A78BF00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본 연구는 여러 AI가 디자이너와 한 팀으로 아이디어를 낼 때, 그 팀을 어떻게 조직해야 창의를 더 잘 지원하는지 실험으로 비교한다.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78DB7-805E-496F-B4AE-E3A7A053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572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5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5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상황: 디자이너가 혼자 AI에게 묻는 것이 아니라, 역할이 다른 여러 AI와 함께 아이디어를 발전시킨다.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5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핵심 비교: 한 AI가 논의를 모아 조율하는 방식과, AI들이 위계 없이 서로 직접 주고받는 방식을 비교한다.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5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평가 관점: 디자이너가 느낀 창의 지원감과 실제 산출물의 다양성·품질을 함께 본다.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5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범위: 텍스트 채팅 환경에서 먼저 검증하고, 학위논문 전체에서는 VR 환경까지 확장한다.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8A0AE-4BA3-4DDB-9CFA-58BB8CD5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010A8-304B-4CEB-9B31-F504CB20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Designer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4E243-BD1D-46A6-969C-75F23E8F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8D296-2D96-4CE5-9A94-CFC89930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4342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BB227-4B54-4261-BE27-5BC8869F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40E68-81C7-4FAE-B9A2-EAEC88E2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2442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UX/UI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C89FB-9841-4388-8272-0708FFD9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243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8CF"/>
          </a:solidFill>
          <a:ln xmlns:a="http://schemas.openxmlformats.org/drawingml/2006/main" w="16193">
            <a:solidFill>
              <a:srgbClr val="8A6E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74C3E-990F-4CBD-AB7B-E2F4326A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4342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10" idx="7"/>
          </p:cNvCxnSpPr>
          <p:nvPr/>
        </p:nvCxnSpPr>
        <p:spPr>
          <a:xfrm xmlns:a="http://schemas.openxmlformats.org/drawingml/2006/main" flipH="1">
            <a:off x="8635147" y="3604512"/>
            <a:ext cx="771491" cy="82864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4C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" name=""/>
          <p:cNvCxnSpPr>
            <a:stCxn xmlns:a="http://schemas.openxmlformats.org/drawingml/2006/main" id="8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610725" y="3771900"/>
            <a:ext cx="2000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4C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" name=""/>
          <p:cNvCxnSpPr>
            <a:stCxn xmlns:a="http://schemas.openxmlformats.org/drawingml/2006/main" id="8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214862" y="3604512"/>
            <a:ext cx="371441" cy="82864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4CF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C5AA4-CB81-4A50-ABCA-CD9BE34A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715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디자이너와 역할형 AI 팀</a:t>
            </a:r>
          </a:p>
        </p:txBody>
      </p:sp>
    </p:spTree>
    <p:extLst>
      <p:ext uri="{BB962C8B-B14F-4D97-AF65-F5344CB8AC3E}">
        <p14:creationId xmlns:p14="http://schemas.microsoft.com/office/powerpoint/2010/main" val="501917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FAAF3-6589-48C8-A55C-ECE79D29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B8C84-8B2C-4BEF-890F-9D9D0919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배경 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592F7-4AD4-4C5B-BBBC-6D4DD591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3C2AB-A545-4E4B-B35F-99602C7B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Xu et al., 2022; Mesmer-Magnus &amp; DeChurch, 2009; Pearce &amp; Conger, 2003; Guo et al., 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D17A5-263E-4445-9515-C124B456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3097B-F787-4408-BD91-5C3C4B59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팀 구조는 창의를 바꾼다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67758-C83A-42CE-AB7A-56E7186C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사람 팀에서는 위계와 수평성, 정보 공유, 공유 리더십이 창의적 성과와 연결된다. AI 팀에서도 같은 설계 선택이 생긴다.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923E0-F29F-435C-A057-6E368A1A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6324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수평적인 사람 팀은 위계적인 팀보다 더 혁신적인 성과를 내는 경향이 있다 (Xu et al., 2022).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팀 성과에는 누가 리더인지뿐 아니라, 정보가 얼마나 잘 공유되는지도 중요하다 (Mesmer-Magnus &amp; DeChurch, 2009).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공유 리더십은 한 명의 리더가 모든 결정을 독점하지 않고, 구성원이 상황에 따라 주도권을 나누는 방식이다 (Pearce &amp; Conger, 2003).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여러 AI가 역할을 나눠 대화하는 시스템에서도 한 AI가 중심이 될지, AI들이 직접 주고받을지 선택해야 한다 (Guo et al., 2024).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50074-3B17-4364-874E-19773BE7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위계형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8829B-C6AB-4432-A22F-F9FAC455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3FEC0-F285-4C04-900F-930C6DE1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766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183B7-179F-49B8-8890-90147FB3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0D775-EF89-4C13-9781-88574D97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0532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054A6-30EF-472C-B35E-89F0DE2C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72C6F-A135-45B3-B175-D25DAEC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0532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7820025" y="3711878"/>
            <a:ext cx="374347" cy="6696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4C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"/>
          <p:cNvCxnSpPr>
            <a:stCxn xmlns:a="http://schemas.openxmlformats.org/drawingml/2006/main" id="10" idx="5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760128" y="3711878"/>
            <a:ext cx="355297" cy="6696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4CF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FB93F-D86C-448F-B66A-A318928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수평형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8D640-1EBE-4E4E-8579-E6F8248E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19364-726C-4CE2-A1AE-1EF26DC0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62325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F0E71-CAF1-4480-B557-076443CF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19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3DF1E-79A5-4B10-8FD0-3E5C999D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62325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B484F-1F61-4AAE-A3F9-DC914544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43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D67CE-BA95-4999-82C9-5683892A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86275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cxnSp>
        <p:nvCxnSpPr>
          <p:cNvPr id="53" name=""/>
          <p:cNvCxnSpPr>
            <a:stCxn xmlns:a="http://schemas.openxmlformats.org/drawingml/2006/main" id="19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10439400" y="3514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064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21" idx="3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10601325" y="3723516"/>
            <a:ext cx="248409" cy="61988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064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23" idx="0"/>
            <a:endCxn xmlns:a="http://schemas.openxmlformats.org/drawingml/2006/main" id="19" idx="5"/>
          </p:cNvCxnSpPr>
          <p:nvPr/>
        </p:nvCxnSpPr>
        <p:spPr>
          <a:xfrm xmlns:a="http://schemas.openxmlformats.org/drawingml/2006/main" flipH="1" flipV="1">
            <a:off x="10352916" y="3723516"/>
            <a:ext cx="248409" cy="61988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064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B3A40-163A-4886-9FD8-263DD1D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911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같은 구성원이라도 연결 방식이 다르면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아이디어가 흐르는 경로가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150598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231230-E655-4ACC-8C2C-5DA647CD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2182D-9D6B-4670-8F6E-DB2900A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배경 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BEE0F-7DE7-4763-8F5F-280CEBA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4B0B5-AB90-4D2A-BECE-E26C56E4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Doshi &amp; Hauser, 2024; Choi et al., 2025; Lu et al., 2024; Su et al., 2025; Quan et al.,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88C77-2BC3-48C0-A5F1-B50C090B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040B1-B96C-4220-BBAC-0333250C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AI 팀은 그대로 예측할 수 없다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66F43-3069-49BA-B84D-BB6BF02C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AI는 사람 팀처럼 보이지만, 창의 작업에서는 비슷한 답·동조·동질성 문제가 함께 나타난다. 그래서 구조 효과를 직접 봐야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D5873-B9E3-4D3D-8C31-B7A699F7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676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생성형 AI 아이디어는 개인 산출을 도울 수 있지만, AI를 사용한 결과물끼리는 더 비슷해질 수 있다 (Doshi &amp; Hauser, 2024).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멀티에이전트 토론에서는 중립 에이전트가 다수파나 더 유능한 에이전트에 동조하는 현상이 보고됐다 (Choi et al., 2025).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같은 LLM에서 나온 에이전트들은 서로 다른 사람들만큼 다양한 관점을 갖기 어렵다 (Lu et al., 2024).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동시에 멀티에이전트가 아이디어 생성과 human-AI 협업에서 도움을 줄 가능성도 확인됐다 (Su et al., 2025; Quan et al., 2026).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따라서 본 연구는 결과 방향을 미리 정하지 않고, 구조가 지원감과 산출물에 미치는 차이를 비교한다.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663D6-5641-4BE4-8DC2-28CE262C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AF7"/>
          </a:solidFill>
          <a:ln xmlns:a="http://schemas.openxmlformats.org/drawingml/2006/main" w="16193">
            <a:solidFill>
              <a:srgbClr val="405F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EEE92-6F0C-4B27-A720-DDE20A31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622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355A9-A31E-4268-A35C-07151D35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AF7"/>
          </a:solidFill>
          <a:ln xmlns:a="http://schemas.openxmlformats.org/drawingml/2006/main" w="16193">
            <a:solidFill>
              <a:srgbClr val="405F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19053-167F-4624-A5DD-BDA51264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622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42CDE-48DB-4A47-91A8-613EB6C9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81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AF7"/>
          </a:solidFill>
          <a:ln xmlns:a="http://schemas.openxmlformats.org/drawingml/2006/main" w="16193">
            <a:solidFill>
              <a:srgbClr val="405F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A8D77-B90E-4672-AF3C-3C728E9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622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674F2-AACB-41B6-B609-B143DF18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142E7-CE3A-4AC0-9386-2BF9CCCD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0E4C2-4E0E-4788-9833-B3F9423F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339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Idea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DC409-17AF-44D8-840C-E71A2EF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52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33214-4C66-4BC5-9002-94A95835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Idea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8DB4C-299B-4509-BD75-1303B999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DA7E2-CFB3-4E22-B39F-75C2D6C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339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Idea</a:t>
            </a:r>
          </a:p>
        </p:txBody>
      </p:sp>
      <p:cxnSp>
        <p:nvCxnSpPr>
          <p:cNvPr id="47" name=""/>
          <p:cNvCxnSpPr>
            <a:stCxn xmlns:a="http://schemas.openxmlformats.org/drawingml/2006/main" id="9" idx="4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715375" y="3448050"/>
            <a:ext cx="7620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CD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" name=""/>
          <p:cNvCxnSpPr>
            <a:stCxn xmlns:a="http://schemas.openxmlformats.org/drawingml/2006/main" id="11" idx="4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763125" y="3448050"/>
            <a:ext cx="7620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CD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" name=""/>
          <p:cNvCxnSpPr>
            <a:stCxn xmlns:a="http://schemas.openxmlformats.org/drawingml/2006/main" id="13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810875" y="3448050"/>
            <a:ext cx="7620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CD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56DE4-D512-4832-A607-31A4A6C7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81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유사해질 수 있는 산출물</a:t>
            </a:r>
          </a:p>
        </p:txBody>
      </p:sp>
    </p:spTree>
    <p:extLst>
      <p:ext uri="{BB962C8B-B14F-4D97-AF65-F5344CB8AC3E}">
        <p14:creationId xmlns:p14="http://schemas.microsoft.com/office/powerpoint/2010/main" val="236184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219DA-1B81-46FE-A9FE-252BF630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A62F0-5DD6-4EAC-94D8-5D5A0130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관련 연구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F35E3-897B-42AD-A824-59AD68C2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905E5-105F-4707-A646-26FDD5D4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Lu et al., 2024; Su et al., 2025; Quan et al., 2026; Cherry &amp; Latulipe, 2014; Shen et al., 2025; Dean et al., 2006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B5AF3-C3A2-4798-9206-26366D95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46AC7-18A8-467A-8FCF-3BFE2941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가능성 다음은 구조다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3DA84-B8F9-45ED-8146-7AD2A481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선행 연구는 멀티에이전트의 창의 효과와 측정 방법을 마련했다. 본 연구는 그 다음 단계로, human-LLM 협업에서 팀 구조를 조작한다.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F58E1-2401-4407-B0B3-E5A0087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670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AA378-0661-4CB5-8222-2057FF9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66B86-E3C6-4018-B226-E8D208C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4793E-4E49-4031-B058-7433779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4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LLM 토론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5CF66-A961-463E-94A3-9EE0801B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866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3000"/>
              </a:lnSpc>
              <a:buNone/>
              <a:defRPr sz="11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역할극 토론은 단일 LLM보다 창의성 테스트 성과를 높였다. 다만 저자는 human-LLM 협업을 향후 과제로 남겼다 (Lu et al., 2024).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80C56-D181-497D-B273-73416B53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00094-D44D-4707-9DFF-1702A3DB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22A89-50E2-4EE4-AAB5-D2DD05F1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4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자동 아이디어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2C7FB-82DA-4480-866F-9979244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95750"/>
            <a:ext cx="1866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3000"/>
              </a:lnSpc>
              <a:buNone/>
              <a:defRPr sz="11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VirSci는 멀티에이전트 과학 아이디어에서 새로움과 영향력 향상을 보였다. 사용자는 과정에 직접 참여하지 않았다 (Su et al., 2025).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3CCDE-A033-46FA-9CD0-40E9350E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79F07-CE2D-4F13-82EE-98B1012E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146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32240-35D0-4EF4-8BD0-8F6619D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76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4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사용자 협업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9DA2C-D554-4E93-BEC2-DEB22EE5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1866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3000"/>
              </a:lnSpc>
              <a:buNone/>
              <a:defRPr sz="11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MultiColleagues는 멀티에이전트가 단일 AI보다 사회적 현존감과 정교화 지각을 높일 수 있음을 보였다 (Quan et al., 2026).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E2225-A056-4C8C-8587-18A6C534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A705E-FA2D-4DD0-AA96-688A1636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1E093-22AA-471D-90F8-A70694F3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425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측정 기반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15A4B-AA56-493C-B347-694BA07D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866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3000"/>
              </a:lnSpc>
              <a:buNone/>
              <a:defRPr sz="11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CSI는 창의 지원감을, Dean의 4차원은 아이디어 품질을 평가하는 기준으로 사용할 수 있다 (Cherry &amp; Latulipe, 2014; Dean et al., 2006).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0203A-7D5E-4970-B8C2-37B4C3B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578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본 연구의 위치: 같은 멀티에이전트 안에서 ‘구조’를 바꾸고, 사용자 경험과 산출물을 함께 본다.</a:t>
            </a:r>
          </a:p>
        </p:txBody>
      </p:sp>
    </p:spTree>
    <p:extLst>
      <p:ext uri="{BB962C8B-B14F-4D97-AF65-F5344CB8AC3E}">
        <p14:creationId xmlns:p14="http://schemas.microsoft.com/office/powerpoint/2010/main" val="1748129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B5023-7F94-4E3C-908A-909FF5FC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46C5B-675B-4963-ABFE-148B8F0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연구 질문 &amp;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7911D-5D93-4B54-8243-D025C1A9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CDAEB-463E-48C2-922E-54BD65E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7C453-A567-43BC-920D-642C9D5F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질문은 두 층위로 나눈다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F3C89-E46D-4568-9FE8-777945A7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Study 1은 Chat 환경에서 구조 효과를 묻고, Study 1과 2를 합쳐 환경과 구조의 상호작용을 묻는다.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7F552-8CD3-4679-BEBE-0703A3AF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6343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  <a:def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RQ1-1: Chat에서 중앙집중형과 분산형은 지각된 창의 지원감(CSI)에 차이를 만드는가?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  <a:def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RQ1-2: 디자이너가 느낀 지원감은 산출물의 다양성·품질과 일치하는가, 어긋나는가?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  <a:def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RQ2-1: Chat과 VR 환경은 창의 지원감과 산출물에 차이를 만드는가?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  <a:def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RQ2-2: 협업 구조의 효과는 환경에 따라 달라지는가?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BBF33-CA2E-427A-A094-8FB4908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6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2×2 연구 지도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37822-5A00-43C9-818B-D708056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1D79D-3846-4598-8725-D6894117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C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770F0-91AF-42DC-ABD6-9C5822D1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8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9F322-3931-4BEA-BC49-BE0BF62E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5DCC-0278-44D6-942A-CEB40125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C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E1830-6D29-47FF-A716-CB5C4F99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05150"/>
            <a:ext cx="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8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BF5E5-2589-4D4E-AABE-C7CECE78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중앙집중형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16EFC-D79C-4ACB-BF03-EF972B9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분산형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8E184-FC0D-4E0F-A32C-E4001F9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EC511-6F9D-4C1E-A6E2-6287903C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VR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FD918-8C35-43ED-87E3-B62ADEB3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75388-B165-42E6-BA4C-BE8F3A07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S1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6AFC9-6622-4597-9C57-9F247C4D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F57EE-D16F-46AF-8004-AF88106D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099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S1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738B3-8F87-40F4-818A-C153270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78943-65FA-448E-BF26-5AE008F2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S2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4C4A0-B277-4059-BDE5-06FA5703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9AA9B-C1C7-44C6-896E-5F8D62D1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24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S2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62F6D-56B0-4668-BDAD-2C7B43A8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독립변수: 구조(피험자 내) × 환경(피험자 간)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종속변수: CSI · 다양성 · 품질 · 인터뷰 · SSQ</a:t>
            </a:r>
          </a:p>
        </p:txBody>
      </p:sp>
    </p:spTree>
    <p:extLst>
      <p:ext uri="{BB962C8B-B14F-4D97-AF65-F5344CB8AC3E}">
        <p14:creationId xmlns:p14="http://schemas.microsoft.com/office/powerpoint/2010/main" val="1006398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9A1A5-48E9-4BA5-9F97-73B680D3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CBFEC-6098-4C83-97F2-5DEE366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시스템 &amp; 프롬프트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F04E5-0234-41CD-9596-BDF9BF10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7F833-02E7-4F49-852B-44649F2F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Hoegl &amp; Gemuenden, 2001; Weinberger &amp; Fischer, 2006; Mumford et al., 2002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42145-2EAF-43F3-82C8-7AF97054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E261C-F2FC-4957-BB61-03B7FBA6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역할은 고정하고 연결만 바꾼다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BB263-160E-4556-A022-24700D26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AG2(AutoGen) 기반 시스템에서 단일 LLM과 같은 세 역할을 유지해, 구조 차이가 만드는 효과만 비교한다.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AD19C-FD56-4301-AC6E-717239A8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191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공통 역할은 PM, UX/UI Designer, SW Engineer 세 가지로 둔다.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중앙집중형에서는 PM 에이전트가 디자이너와 다른 에이전트 사이의 조율 허브가 된다.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분산형에서는 세 에이전트가 위계 없이 서로 직접 의견을 교환한다.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Hoegl과 Weinberger의 이론은 모든 에이전트의 협업 발화 설계 근거로 사용한다.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Mumford의 창의적 리더십 전술은 중앙집중형 PM 프롬프트에만 추가해 구조 차이를 구현한다.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09808-57AA-4BE2-A8C1-9E0DD27B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중앙집중형: PM 허브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29D34-476D-4B6C-966E-F77CF858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F84AA-DB4B-4EBD-9757-F96DCD8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6232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6F504-151A-447A-9EDB-2B1AC791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8060E-E7C6-4A99-B377-6B218E7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529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UX/UI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EE648-FA76-4240-AA24-A220C58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8CF"/>
          </a:solidFill>
          <a:ln xmlns:a="http://schemas.openxmlformats.org/drawingml/2006/main" w="16193">
            <a:solidFill>
              <a:srgbClr val="8A6E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6BFF8-8B54-4F90-9089-58E7D25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529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2" idx="7"/>
          </p:cNvCxnSpPr>
          <p:nvPr/>
        </p:nvCxnSpPr>
        <p:spPr>
          <a:xfrm xmlns:a="http://schemas.openxmlformats.org/drawingml/2006/main" flipH="1">
            <a:off x="7465207" y="3777397"/>
            <a:ext cx="377896" cy="89224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4C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"/>
          <p:cNvCxnSpPr>
            <a:stCxn xmlns:a="http://schemas.openxmlformats.org/drawingml/2006/main" id="10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68447" y="3777397"/>
            <a:ext cx="301696" cy="89224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4CF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E9A7C-DE9A-4D15-8845-65BBDC0A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분산형: 완전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04EBDF-97EB-4A1E-B97C-4B91AF76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575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5B0F2-58B6-425A-90D2-46D97DD2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290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PM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9D3D6-ECEF-4D3D-B4BC-FB848982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95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E5601-F290-4029-94B0-BF810427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672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UX/UI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A7252-439E-4F18-AEC2-CF1D90FE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8CF"/>
          </a:solidFill>
          <a:ln xmlns:a="http://schemas.openxmlformats.org/drawingml/2006/main" w="16193">
            <a:solidFill>
              <a:srgbClr val="8A6E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85E1E-CDBA-4AD5-B655-379BD852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cxnSp>
        <p:nvCxnSpPr>
          <p:cNvPr id="53" name=""/>
          <p:cNvCxnSpPr>
            <a:stCxn xmlns:a="http://schemas.openxmlformats.org/drawingml/2006/main" id="19" idx="5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687447" y="3810397"/>
            <a:ext cx="361157" cy="38020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064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3" idx="6"/>
          </p:cNvCxnSpPr>
          <p:nvPr/>
        </p:nvCxnSpPr>
        <p:spPr>
          <a:xfrm xmlns:a="http://schemas.openxmlformats.org/drawingml/2006/main" flipH="1">
            <a:off x="9963150" y="44196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064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23" idx="7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V="1">
            <a:off x="9868297" y="3810397"/>
            <a:ext cx="361157" cy="38020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064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2CAAC-A6F4-4E8C-B616-88BCB0FD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15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15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프롬프트 이론은 측정 도구가 아니라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15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15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에이전트 행동을 설계하는 근거다.</a:t>
            </a:r>
          </a:p>
        </p:txBody>
      </p:sp>
    </p:spTree>
    <p:extLst>
      <p:ext uri="{BB962C8B-B14F-4D97-AF65-F5344CB8AC3E}">
        <p14:creationId xmlns:p14="http://schemas.microsoft.com/office/powerpoint/2010/main" val="314187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F5231B-21C3-4AE3-85C2-CD073E5D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ADD50-4312-48CE-990A-136E490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실험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A8EC3-6017-428F-8ABB-752AE471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8E965-47B7-4BE4-9586-D4ED2415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44F56-94B1-49D0-AA87-3A1C9FB8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같은 비교를 두 환경에서 반복한다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A1305-6C65-4A87-B83E-8F7B5A1F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참가자는 두 구조를 모두 경험하고, 과제와 순서를 카운터밸런스한다. VR Study는 별도의 신규 참가자로 진행한다.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8F54C-6072-493E-985A-6AFBDDE3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572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Study 1: 텍스트 채팅 환경, n=30, 중앙집중형과 분산형을 피험자 내에서 비교한다.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Study 2: VR 환경, 신규 참가자 n=30, 같은 구조 비교를 몰입 환경에서 반복한다.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과제 A와 B는 구조 조건과 순서가 맞물리지 않도록 카운터밸런스한다.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각 세션은 안내·연습, 과제 1, 설문, 휴식, 과제 2, 설문, 인터뷰 순서로 진행한다.</a:t>
            </a:r>
          </a:p>
          <a:p xmlns:a="http://schemas.openxmlformats.org/drawingml/2006/main">
            <a:pPr algn="l">
              <a:lnSpc>
                <a:spcPct val="131000"/>
              </a:lnSpc>
              <a:buNone/>
              <a:def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41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Study 2에서는 VR 멀미와 신체 부담을 확인하기 위해 SSQ를 추가한다.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C3A06-E3D6-4346-A11B-5C8DE760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DC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D880F-83C1-4D50-97A3-B1CCCC8E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03BEA-D45D-436A-8F1B-1D556D7A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2A0DB-27BF-455E-A0B3-F5DC537C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624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A3EC9-8BDB-490A-97A4-A9235B1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DB80A-DFA8-45E3-BEC8-BA7C0F43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8142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B1B19-993E-4EDC-A3F7-FE60E2B5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과제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2CE76-2E24-453A-BD6D-3CA81BB2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96A96-4EE3-4AC3-9723-37A17EC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8142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FF3DB-9554-47BF-96AB-FB077B83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624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설문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668D2-2F65-4426-B0D7-6B10244B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D12B8-3BEA-49B7-907B-7C59833A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8142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302F7-361F-486E-900D-10521E2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624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휴식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ABD64-C902-4580-9480-2C8FE59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01CA0-706E-4BC4-A2FB-A98A5E8E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8142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90C4A-0EC5-46F2-A577-8E6AFDD7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624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과제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45F4B-9EE2-431C-ABBD-8B84160B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55D5B-6BDB-43D7-9B72-1615A52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8142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D2F79D-FC2F-4DDC-9E7F-DD6A89C3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3624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설문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854001-6331-44A7-BB26-3B50F6E7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5D2F80-A396-4277-940E-B4117D32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8142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A83698-5AB3-49A1-965D-0AB9A701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3624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인터뷰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A79F90-BEE1-4E27-B3FD-B20B7C6B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구조 조건은 참가자 안에서 바뀌고,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환경 조건은 참가자 집단 사이에서 바뀐다.</a:t>
            </a:r>
          </a:p>
        </p:txBody>
      </p:sp>
    </p:spTree>
    <p:extLst>
      <p:ext uri="{BB962C8B-B14F-4D97-AF65-F5344CB8AC3E}">
        <p14:creationId xmlns:p14="http://schemas.microsoft.com/office/powerpoint/2010/main" val="540697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250D9-7C2B-46BB-A44D-67E20831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7E81A-37A2-46B5-82AA-AFF9A7DD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측정 &amp;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FAD89-F18A-4869-BBD3-0554E604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CE9FB-C3C5-49A4-B3F9-F29A6992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Cherry &amp; Latulipe, 2014; Shen et al., 2025; Dean et al., 2006; Kennedy et al., 1993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E7C5A-C639-4DA0-B36F-C236CABC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7EBB-3F27-4DDE-9B4D-6948F44A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느낀 지원과 실제 결과를 나눠 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3C11C-B8A1-46EE-872C-AB6CEEB2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CSI는 창의 작업이 얼마나 잘 지원되었는지를 묻는 설문이며, 본 연구는 이 지각 지표를 산출물 지표와 함께 해석한다.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3C2E2-71A7-4204-BD3B-83D7DF4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76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CSI: 탐색, 표현, 몰입, 즐거움, 노력 대비 결과, 협업의 여섯 요인으로 창의 지원감을 측정한다.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산출물 다양성: 아이디어 임베딩 간 코사인 거리를 사용해 결과물들이 얼마나 서로 다른지 본다.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산출물 품질: Dean 등(2006)의 Novelty, Workability, Relevance, Specificity 네 차원으로 평가한다.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SSQ: VR 환경에서 멀미와 신체 부담이 결과 해석에 영향을 주는지 확인한다.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인터뷰: 수치 결과가 왜 그렇게 나타났는지 반구조화 인터뷰를 주제 분석으로 해석한다.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35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통계: 조건별 paired t 또는 Wilcoxon과 Cohen's d를 보고, 통합 분석에서는 환경×구조 Mixed ANOVA를 사용한다.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A7817-B4CE-4785-8543-E98CB0D7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2753C-2CED-4390-BC1D-DAD2827C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CSI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E31CA-15E8-40E3-A9F2-30925F1D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지원감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D2BB2-F216-4A83-8130-EC6833A2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574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AF7"/>
          </a:solidFill>
          <a:ln xmlns:a="http://schemas.openxmlformats.org/drawingml/2006/main" w="16193">
            <a:solidFill>
              <a:srgbClr val="405F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C4B32-C519-44C8-A37F-A83B882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86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405F9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05F9B"/>
                </a:solidFill>
                <a:latin typeface="Malgun Gothic"/>
                <a:ea typeface="Malgun Gothic"/>
                <a:cs typeface="Malgun Gothic"/>
              </a:rPr>
              <a:t>거리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DBB64-0F32-4EBE-B193-5E7039B7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95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다양성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04B1B-5B9E-4E2B-AFFA-07BDCC14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81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8CF"/>
          </a:solidFill>
          <a:ln xmlns:a="http://schemas.openxmlformats.org/drawingml/2006/main" w="16193">
            <a:solidFill>
              <a:srgbClr val="8A6E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AD926-72FF-45D1-9862-FA2D85FD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00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8A6E2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6E2F"/>
                </a:solidFill>
                <a:latin typeface="Malgun Gothic"/>
                <a:ea typeface="Malgun Gothic"/>
                <a:cs typeface="Malgun Gothic"/>
              </a:rPr>
              <a:t>Dean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8A6E2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6E2F"/>
                </a:solidFill>
                <a:latin typeface="Malgun Gothic"/>
                <a:ea typeface="Malgun Gothic"/>
                <a:cs typeface="Malgun Gothic"/>
              </a:rPr>
              <a:t>4D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8CF6A-0826-46F3-828D-AAF72F75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9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품질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9C3D1-3B3E-46DE-A99A-8C15AE1C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81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DA"/>
          </a:solidFill>
          <a:ln xmlns:a="http://schemas.openxmlformats.org/drawingml/2006/main" w="16193">
            <a:solidFill>
              <a:srgbClr val="D95F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08123-C080-4C98-B4C5-9DE8F1C8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100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SSQ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50611F-963E-4D62-B669-19A08EE1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19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VR 부담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EC787-0D57-46AB-BB72-5641F881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8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7BB8B-61BC-4C79-ACE4-55C93B66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인터뷰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7CE44-590E-48BD-8386-059AEB47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43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이유 해석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40F7E-0982-4029-B9CC-BC8C0544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5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650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정량 + 정성</a:t>
            </a:r>
          </a:p>
        </p:txBody>
      </p:sp>
    </p:spTree>
    <p:extLst>
      <p:ext uri="{BB962C8B-B14F-4D97-AF65-F5344CB8AC3E}">
        <p14:creationId xmlns:p14="http://schemas.microsoft.com/office/powerpoint/2010/main" val="381269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12DBF-3B30-48AC-AF79-8B35C45B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787D4-492F-4489-B530-0A65B013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연구 절차 &amp; 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CC24B-F887-4886-846C-2CEF0D92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DEAB3-03DA-4858-B02F-8762F64B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7B858B"/>
                </a:solidFill>
                <a:latin typeface="Malgun Gothic"/>
                <a:ea typeface="Malgun Gothic"/>
                <a:cs typeface="Malgun Gothic"/>
              </a:rPr>
              <a:t>Master's Thesis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2BFC8-5A2E-4DF3-9EAB-C0CD7CF1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0"/>
                </a:solidFill>
                <a:latin typeface="Malgun Gothic"/>
                <a:ea typeface="Malgun Gothic"/>
                <a:cs typeface="Malgun Gothic"/>
              </a:rPr>
              <a:t>결과보다 설계를 검증한다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A66FA-8B58-49DD-8051-E0B6FFD0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현재 발표의 초점은 어느 조건이 더 좋은지 예측하는 것이 아니라, 실험 조건·측정·분석 절차가 타당하게 설계되었는지 보여주는 것이다.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9C720-8B73-4E02-A75E-333197AF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67627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IRB 승인: 동의 절차, 개인정보 처리, VR 위험 안내, 데이터 관리 계획을 확정한다.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파일럿: 과제 난이도, 안내문, 에이전트 응답 안정성, 설문 흐름을 점검한다.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Study 1 수집: Chat 환경에서 n=30 자료를 모으고, 조건별 설문과 산출물을 정리한다.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중간 평가·분석: 산출물 평가 기준과 임베딩 분석 절차를 고정한다.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Study 2 수집: VR 환경에서 신규 n=30 자료를 모으고, SSQ와 인터뷰까지 포함한다.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373" b="0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- 통합 분석·집필: 환경×구조 분석과 정성 분석을 결합해 학위논문으로 정리한다.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958CB-2FF3-483C-B5CD-ECDCFD9C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DC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E6151-476E-4AAF-BB22-C0ED1B01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81209-A68A-451B-AA9C-E0C4B4D1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858D7-EC3D-45FD-8ED8-C3193E8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IRB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170BE-7F25-41C2-82C0-D852A5F9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05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3951B-ECD0-42BC-90BD-A87FF3CC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3105F-EA49-4A87-B513-2478BE05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18C63-EE7B-4A3E-84E4-34F6475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05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4E359-F4F9-4557-A461-624A364A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2746E-477F-4954-BDB4-F7B96E9F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Study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F72B8-BA81-4BBA-B566-A6BA35D9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05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D1935-DA24-4713-BE73-2C845075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FF94A-09A5-4319-8E90-C3ECACA8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Eval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CCA24-BA01-4CA4-8415-6BCFC3D0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05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CEA"/>
          </a:solidFill>
          <a:ln xmlns:a="http://schemas.openxmlformats.org/drawingml/2006/main" w="16193">
            <a:solidFill>
              <a:srgbClr val="216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98148-A2BC-4110-B25D-3C3CCC1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1606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200CF-860E-43E6-BAF4-8AB45448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Study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48BD8-8A8B-43D8-9175-27B29439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505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BD4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3BCBC-B408-453F-8E6C-D99ACC74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6195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064E2-8500-46BA-9402-369342CC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38434D"/>
                </a:solidFill>
                <a:latin typeface="Malgun Gothic"/>
                <a:ea typeface="Malgun Gothic"/>
                <a:cs typeface="Malgun Gothic"/>
              </a:rPr>
              <a:t>Write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F43C3-4878-4455-B9CA-FDF0AFBD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Proposal stage: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95F45"/>
                </a:solidFill>
                <a:latin typeface="Malgun Gothic"/>
                <a:ea typeface="Malgun Gothic"/>
                <a:cs typeface="Malgun Gothic"/>
              </a:rPr>
              <a:t>실험 전 설계의 타당성 제시</a:t>
            </a:r>
          </a:p>
        </p:txBody>
      </p:sp>
    </p:spTree>
    <p:extLst>
      <p:ext uri="{BB962C8B-B14F-4D97-AF65-F5344CB8AC3E}">
        <p14:creationId xmlns:p14="http://schemas.microsoft.com/office/powerpoint/2010/main" val="459843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2026-06-16T05:05:03.7740000Z</dcterms:created>
  <dcterms:modified xsi:type="dcterms:W3CDTF">2026-06-16T05:05:03.7740000Z</dcterms:modified>
</coreProperties>
</file>